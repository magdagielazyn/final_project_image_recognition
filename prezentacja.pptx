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🧠 Klasyfikacja obrazów MRI mózgu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4FF"/>
                </a:solidFill>
              </a:defRPr>
            </a:pPr>
            <a:r>
              <a:t>Projekt zaliczeniowy — Klasyfikacja wieloklasowa obrazów medycznych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Autor: Marcin Sierakowski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t>Kierunek: Inżynieria i Analiza Danych</a:t>
            </a:r>
          </a:p>
          <a:p>
            <a:pPr algn="ctr">
              <a:defRPr sz="1800" b="0">
                <a:solidFill>
                  <a:srgbClr val="FFFFFF"/>
                </a:solidFill>
              </a:defRPr>
            </a:pPr>
            <a:r>
              <a:t>Rok akademicki: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Zbudowanie modelu klasyfikacji obrazów MRI mózgu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Rozróżnianie 4 typów: glioma, meningioma, pituitary, no tumor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Porównanie modelu CNN z EfficientNetB0 (transfer learning)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Ocena jakości klasyfikacji za pomocą metryk i wizualizacji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Charakterystyka danych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Źródło: Brain Tumor MRI Dataset (Kaggle)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Łącznie ok. 7 000 obrazów MRI mózgu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4 klasy: glioma, meningioma, pituitary, no tumor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Podział: treningowy / walidacyjny / testowy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Zbalansowany rozkład klas – każda ok. 25%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Przetwarzanie danych (preprocessing)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Wykrycie i usunięcie duplikatów między zbiorami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Konwersja do skali szarości (MRI nie wymaga koloru)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Przycięcie centralne do 80% – eliminacja nadmiarowego tła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Skalowanie do 150×150 pikseli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Normalizacja wartości pikseli do zakresu 0–1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Augmentacja: losowy flip, rotacja ±5°, zoom ±10%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Modele — architektura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FF"/>
                </a:solidFill>
              </a:defRPr>
            </a:pPr>
            <a:r>
              <a:t>🔷 CNN (własny)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3 bloki: Conv2D + BatchNorm + MaxPool + Dropout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GlobalAveragePooling2D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Dense(128, relu) + Dropout(0.5)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Dense(4, softmax)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~110 724 param. trenowalnych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45720" cy="48463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FF"/>
                </a:solidFill>
              </a:defRPr>
            </a:pPr>
            <a:r>
              <a:t>🔶 EfficientNetB0 (transfer learning)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Baza: EfficientNetB0 wytrenowana na ImageNet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Zamrożone wagi bazowe (bez uczenia)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GlobalAveragePooling2D + Dropout(0.3)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Dense(4, softmax) — nowy klasyfikator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~5 124 param. trenowalnych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Trening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FF"/>
                </a:solidFill>
              </a:defRPr>
            </a:pPr>
            <a:r>
              <a:t>🔷 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Optimizer: Adam (lr domyślne)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Loss: categorical_crossentropy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EarlyStopping (patience=5)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ReduceLROnPlateau (patience=3)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Zatrzymanie po 16 epokach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45720" cy="48463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FF"/>
                </a:solidFill>
              </a:defRPr>
            </a:pPr>
            <a:r>
              <a:t>🔶 EfficientNetB0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Optimizer: Adam (lr=0.001)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Loss: categorical_crossentropy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EarlyStopping (patience=5)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ReduceLROnPlateau (patience=3)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Zatrzymanie po 13 epokach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Porównanie modeli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4206240" cy="5029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508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Metryka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474720" cy="5029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CNN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463040"/>
            <a:ext cx="3474720" cy="5029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EfficientNetB0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420624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574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Test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011680"/>
            <a:ext cx="347472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86.8%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011680"/>
            <a:ext cx="347472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057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89.3%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420624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65176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Test Loss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606040"/>
            <a:ext cx="347472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651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0.3648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2606040"/>
            <a:ext cx="347472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2651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0.2951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420624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2461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Macro F1-Score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200400"/>
            <a:ext cx="347472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246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86.9%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200400"/>
            <a:ext cx="347472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9640" y="3246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89.3%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794760"/>
            <a:ext cx="420624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8404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Param. ogółem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794760"/>
            <a:ext cx="347472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840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111 172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03920" y="3794760"/>
            <a:ext cx="347472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840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4 054 695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89120"/>
            <a:ext cx="420624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43484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Param. trenowalnych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389120"/>
            <a:ext cx="347472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434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110 724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4389120"/>
            <a:ext cx="3474720" cy="54864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44348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5 124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983480"/>
            <a:ext cx="420624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50292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Epoki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4983480"/>
            <a:ext cx="347472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5029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4983480"/>
            <a:ext cx="3474720" cy="5486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49640" y="5029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Analiza błędów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FF"/>
                </a:solidFill>
              </a:defRPr>
            </a:pPr>
            <a:r>
              <a:t>🔷 CNN — najczęstsze pomyłki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glioma → meningioma: 51 przypadków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pituitary → meningioma: 27 przypadków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meningioma → notumor: 18 przypadków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Widoczne przeuczenie (train &gt;&gt; val)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45720" cy="484632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FF"/>
                </a:solidFill>
              </a:defRPr>
            </a:pPr>
            <a:r>
              <a:t>🔶 EfficientNet — najczęstsze pomyłki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meningioma → glioma: 30 przypadków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glioma → meningioma: 24 przypadki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pituitary → meningioma: 12 przypadków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Lepsza generalizacja (val ≈ train)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Wizualizacja Grad-CAM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Grad-CAM = Gradient-weighted Class Activation Mapping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Pokazuje obszary obrazu kluczowe dla decyzji modelu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Ważne narzędzie interpretowalności w diagnostyce medycznej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EfficientNet skupia uwagę na centralnych obszarach guza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CNN często reaguje na nieistotne tło lub krawędzie</a:t>
            </a:r>
          </a:p>
          <a:p>
            <a:pPr algn="l">
              <a:defRPr sz="1900" b="0">
                <a:solidFill>
                  <a:srgbClr val="FFFFFF"/>
                </a:solidFill>
              </a:defRPr>
            </a:pPr>
            <a:r>
              <a:t>▸  Weryfikacja, czy model 'patrzy' w odpowiednie miejsca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Wnioski końcowe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155680" cy="566928"/>
          </a:xfrm>
          <a:prstGeom prst="rect">
            <a:avLst/>
          </a:prstGeom>
          <a:solidFill>
            <a:srgbClr val="00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EfficientNetB0 osiągnął wyższą dokładność niż CNN (89.3% vs 86.8%)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21408"/>
            <a:ext cx="11155680" cy="566928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Transfer learning znacząco ograniczył przeuczenie modelu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79776"/>
            <a:ext cx="11155680" cy="566928"/>
          </a:xfrm>
          <a:prstGeom prst="rect">
            <a:avLst/>
          </a:prstGeom>
          <a:solidFill>
            <a:srgbClr val="00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2549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Oba modele najlepiej rozpoznają brak guza (notumor)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38144"/>
            <a:ext cx="11155680" cy="566928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838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Najtrudniejsze do rozróżnienia: glioma ↔ meningioma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2"/>
            <a:ext cx="11155680" cy="566928"/>
          </a:xfrm>
          <a:prstGeom prst="rect">
            <a:avLst/>
          </a:prstGeom>
          <a:solidFill>
            <a:srgbClr val="00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4223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Grad-CAM potwierdza, że EfficientNet skupia się na właściwych obszarach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79"/>
            <a:ext cx="11155680" cy="566928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00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Model może stanowić wsparcie diagnostyczne w neurologii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13248"/>
            <a:ext cx="11155680" cy="566928"/>
          </a:xfrm>
          <a:prstGeom prst="rect">
            <a:avLst/>
          </a:prstGeom>
          <a:solidFill>
            <a:srgbClr val="00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589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✔  Dalsze kroki: fine-tuning, większy dataset, lepsza segmentacja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